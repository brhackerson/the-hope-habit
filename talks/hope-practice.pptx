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7"/>
    <p:restoredTop sz="94610"/>
  </p:normalViewPr>
  <p:slideViewPr>
    <p:cSldViewPr snapToGrid="0" snapToObjects="1">
      <p:cViewPr>
        <p:scale>
          <a:sx n="110" d="100"/>
          <a:sy n="110" d="100"/>
        </p:scale>
        <p:origin x="320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23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0">
            <a:extLst>
              <a:ext uri="{FF2B5EF4-FFF2-40B4-BE49-F238E27FC236}">
                <a16:creationId xmlns:a16="http://schemas.microsoft.com/office/drawing/2014/main" id="{FE275FCC-6B3F-99FA-B707-5BAE17B78963}"/>
              </a:ext>
            </a:extLst>
          </p:cNvPr>
          <p:cNvSpPr/>
          <p:nvPr userDrawn="1"/>
        </p:nvSpPr>
        <p:spPr>
          <a:xfrm>
            <a:off x="112275" y="4819467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159A875D-41CE-5A4F-83AB-D336C7F16FE3}" type="slidenum">
              <a:rPr lang="en-US" sz="1050" b="1" smtClean="0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‹#›</a:t>
            </a:fld>
            <a:endParaRPr lang="en-US" sz="900" b="1" dirty="0">
              <a:solidFill>
                <a:srgbClr val="FF0000">
                  <a:alpha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unt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B2A4A">
              <a:alpha val="55000"/>
            </a:srgbClr>
          </a:solidFill>
          <a:ln w="12700">
            <a:solidFill>
              <a:srgbClr val="1B2A4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Science of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Being Hopeful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213654" y="478002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4DEED">
                    <a:alpha val="6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Photo: StockCake</a:t>
            </a:r>
            <a:endParaRPr lang="en-US" sz="7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5DF2D57-FEE5-4508-71F3-7C81FD10FA9B}"/>
              </a:ext>
            </a:extLst>
          </p:cNvPr>
          <p:cNvSpPr/>
          <p:nvPr/>
        </p:nvSpPr>
        <p:spPr>
          <a:xfrm>
            <a:off x="457200" y="3272069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Brian Hackerson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2E4272">
              <a:alpha val="20000"/>
            </a:srgbClr>
          </a:solidFill>
          <a:ln w="12700">
            <a:solidFill>
              <a:srgbClr val="2E427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Think of the hardest thing</a:t>
            </a:r>
            <a:endParaRPr lang="en-US" sz="3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carrying right now.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8288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gets you out of bed anyway?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ellipse">
            <a:avLst/>
          </a:prstGeom>
          <a:solidFill>
            <a:srgbClr val="2E4272">
              <a:alpha val="8000"/>
            </a:srgbClr>
          </a:solidFill>
          <a:ln w="12700">
            <a:solidFill>
              <a:srgbClr val="2E4272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18872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Pictures.</a:t>
            </a:r>
            <a:endParaRPr lang="en-US" sz="9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2E4272">
              <a:alpha val="30000"/>
            </a:srgbClr>
          </a:solidFill>
          <a:ln w="12700">
            <a:solidFill>
              <a:srgbClr val="2E427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When things get hard,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does hope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come from?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people wait for it to show up.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if you could build it instead?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13716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 thought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 was: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feeling that arrives on its 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Something optimists have naturally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passive state of wishing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Something that shows up when life is good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Naïve positivity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365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hope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actually is: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cognitive skill, not an emotion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Something you practice and build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Active — requiring will and direction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Strongest when adversity is real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Backed by 30+ years of research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Source: C.R. Snyder, The Psychology of Hope (1994)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4773168"/>
            <a:ext cx="148561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Two Engines of Hope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228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Snyder's Hope Theory — 30 years of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ENGINE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belief that you can move forward.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will to take the next step — even when the path is unclear.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"I will find a way."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Neither engine is passive.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Both require deliberate action.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3840480" cy="3291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73152" cy="3291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ENGINE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Pathways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07492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ability to find or create a route when the obvious one is blocked.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Hopeful people actively look for alternative routes.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"I will find another way."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611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 is cognitive, not emotional 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skill you can build.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4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OPTIMISM vs HOPE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Optimism prepares the soil.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 does the planting.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57600" cy="1737360"/>
          </a:xfrm>
          <a:prstGeom prst="rect">
            <a:avLst/>
          </a:prstGeom>
          <a:solidFill>
            <a:srgbClr val="1B2A4A">
              <a:alpha val="70000"/>
            </a:srgbClr>
          </a:solidFill>
          <a:ln w="12700">
            <a:solidFill>
              <a:srgbClr val="D4DE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OPTIMISM
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General belief things will work out.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Passive. A disposition.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Sets the conditions for hope.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743200"/>
            <a:ext cx="3657600" cy="1737360"/>
          </a:xfrm>
          <a:prstGeom prst="rect">
            <a:avLst/>
          </a:prstGeom>
          <a:solidFill>
            <a:srgbClr val="1B2A4A">
              <a:alpha val="70000"/>
            </a:srgbClr>
          </a:solidFill>
          <a:ln w="12700">
            <a:solidFill>
              <a:srgbClr val="D4DE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2834640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
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Active and specific. Requires agency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pathways. Fires at 5 am when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inner critic is winning.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Understanding Adversity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 is forged here — not despite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88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88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battles within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inner critic at 5 am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Self-doubt and past failures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Fear of being seen struggling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voice that says 'not yet'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Saboteur patterns (Pleaser, Hyper-Achiever)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3657600"/>
          </a:xfrm>
          <a:prstGeom prst="rect">
            <a:avLst/>
          </a:prstGeom>
          <a:solidFill>
            <a:srgbClr val="1B2A4A"/>
          </a:solidFill>
          <a:ln w="635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88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External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Life circumstances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468880" cy="260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Health crises &amp; doctor's visits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Loss of a parent or loved one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Career disruption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Recovery from illness or surgery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weight we carry daily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chaotic world around us</a:t>
            </a:r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88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Systemic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world around 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culture of chronic stress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Uncertainty and rapid change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Difficulty finding reasons for hope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Community hardship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pull toward cynicism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0"/>
            <a:ext cx="8503920" cy="2743200"/>
          </a:xfrm>
          <a:prstGeom prst="rect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HOW I REFRAMED HOPE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"Hope is what happens when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self-discipline meets adversity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wins."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2651760" cy="1005840"/>
          </a:xfrm>
          <a:prstGeom prst="rect">
            <a:avLst/>
          </a:prstGeom>
          <a:solidFill>
            <a:srgbClr val="2E4272">
              <a:alpha val="60000"/>
            </a:srgbClr>
          </a:solidFill>
          <a:ln w="12700">
            <a:solidFill>
              <a:srgbClr val="D4DE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Self-discipline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023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daily practice of showing up for your future self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3703320"/>
            <a:ext cx="2651760" cy="1005840"/>
          </a:xfrm>
          <a:prstGeom prst="rect">
            <a:avLst/>
          </a:prstGeom>
          <a:solidFill>
            <a:srgbClr val="2E4272">
              <a:alpha val="60000"/>
            </a:srgbClr>
          </a:solidFill>
          <a:ln w="12700">
            <a:solidFill>
              <a:srgbClr val="D4DE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47288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Meets adversity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7288" y="4023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 steps toward difficulty — not around 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703320"/>
            <a:ext cx="2651760" cy="1005840"/>
          </a:xfrm>
          <a:prstGeom prst="rect">
            <a:avLst/>
          </a:prstGeom>
          <a:solidFill>
            <a:srgbClr val="2E4272">
              <a:alpha val="60000"/>
            </a:srgbClr>
          </a:solidFill>
          <a:ln w="12700">
            <a:solidFill>
              <a:srgbClr val="D4DE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27648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wins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4023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triumph — just not stopping. Coming back tomorrow.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if hope</a:t>
            </a:r>
            <a:endParaRPr lang="en-US" sz="6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could be built?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Building Your Hope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228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Four components that work as a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9436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Keyword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word that reconnects you to your deepest why in seconds. Must survive your worst morning.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59436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908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Self-Discipline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9496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Loyalty to your future self expressed as daily action. Not punishment — practice.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59436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319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Circle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right people with the right expertise, even loosely. You can't build this alone.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59436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9087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Inspect &amp; Adapt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first system won't be your best. Run experiments. Measure what actually matters.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773168"/>
            <a:ext cx="8275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KEYWORD MECHANISM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Word That Fires When You Need It Most.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2560320"/>
          </a:xfrm>
          <a:prstGeom prst="rect">
            <a:avLst/>
          </a:prstGeom>
          <a:solidFill>
            <a:srgbClr val="2E4272">
              <a:alpha val="50000"/>
            </a:srgbClr>
          </a:solidFill>
          <a:ln w="12700">
            <a:solidFill>
              <a:srgbClr val="D4DE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25 words or less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Shorter is better. One word is ideal. Must be instantly accessible.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2560320"/>
          </a:xfrm>
          <a:prstGeom prst="rect">
            <a:avLst/>
          </a:prstGeom>
          <a:solidFill>
            <a:srgbClr val="2E4272">
              <a:alpha val="50000"/>
            </a:srgbClr>
          </a:solidFill>
          <a:ln w="12700">
            <a:solidFill>
              <a:srgbClr val="D4DE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90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Speakable under duress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has to work at 5am, mid-workout, in your hardest moment.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2560320"/>
          </a:xfrm>
          <a:prstGeom prst="rect">
            <a:avLst/>
          </a:prstGeom>
          <a:solidFill>
            <a:srgbClr val="2E4272">
              <a:alpha val="50000"/>
            </a:srgbClr>
          </a:solidFill>
          <a:ln w="12700">
            <a:solidFill>
              <a:srgbClr val="D4DE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490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Felt in your body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5146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When you speak it with others, you feel it. That's neuroscience, not metaphor.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1696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Example: "Pictures" — the future photographs that will outlive me. One word. Instant access. Felt deeply.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the Keyword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0" y="256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science behind one word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155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Dr. Jane McGonigal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208" y="1527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Episodic Future Thinking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801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Imaginable, 2022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2084832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brain doesn't process a keyword as an abstract concept — it runs it as a simulation.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When you speak your keyword, the brain activates the same neural pathways as actually experiencing that future moment. You're not imagining it. You're rehearsing it.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This is why vague goals fail and one vivid word succeeds.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3260" y="1005840"/>
            <a:ext cx="2651760" cy="3749040"/>
          </a:xfrm>
          <a:prstGeom prst="rect">
            <a:avLst/>
          </a:prstGeom>
          <a:solidFill>
            <a:srgbClr val="1B2A4A"/>
          </a:solidFill>
          <a:ln w="635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23260" y="100584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4428" y="11155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Dr. Michael Gervais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4428" y="1527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Somatic Anchoring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4428" y="1801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Finding Mastery podcast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4428" y="2084832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Gervais's criteria for a personal philosophy aren't arbitrary — they're neurological.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word felt in the body bypasses the prefrontal cortex's hesitation loop and fires an emotional response directly. The feeling IS the signal.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If you don't feel it, it isn't your word. That's not poetry — that's how anchoring works.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7648" y="11155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Dr. Sanjay Gupta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27648" y="1527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Purpose vs. Obligation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1801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Keep Sharp, 2021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27648" y="2084832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Brain imaging shows that purpose and obligation activate different neural circuits entirely.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Obligation fires compliance. Purpose fires engagement, creativity, and resilience — the same circuits that protect long-term brain health.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keyword tied to your deepest why crosses that line. It doesn't feel like a task. It feels like a reason.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Inner Critic Is Doing Its Best. 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120640" y="14630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Bless Its Heart.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15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208" y="1554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protector, not an enemy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" y="1856232"/>
            <a:ext cx="2249424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938528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inner critic evolved to keep you safe. It lives in the amygdala — your brain's threat-detection system. It cannot distinguish between a saber-toothed tiger and an alarm clock at 5am.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fires on everything. That's not a bug. That's the design.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23260" y="1005840"/>
            <a:ext cx="2651760" cy="3749040"/>
          </a:xfrm>
          <a:prstGeom prst="rect">
            <a:avLst/>
          </a:prstGeom>
          <a:solidFill>
            <a:srgbClr val="1B2A4A"/>
          </a:solidFill>
          <a:ln w="635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23260" y="100584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4428" y="1115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It's Called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4428" y="1554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ego has many names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4428" y="1856232"/>
            <a:ext cx="2249424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4428" y="1938528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Shirzad Chamine calls them Saboteurs — the Judge, the Pleaser, the Hyper-Achiever. Michael Gervais calls it FOPO: fear of other people's opinions.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then there's Imposter Syndrome — the persistent belief that you don't belong, that you'll be found out. Research shows 70% of people experience it at some point in their lives.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4428" y="45537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BMC Psychology meta-analysis, 2025 (n=11,483)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7648" y="1115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It Can't Do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27648" y="1554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outrun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27648" y="1856232"/>
            <a:ext cx="2249424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27648" y="1938528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inner critic cannot be silenced. Trying to argue with it only makes it louder.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But it can be outrun — by something worth moving toward. Hope doesn't defeat the critic.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050" dirty="0">
              <a:solidFill>
                <a:srgbClr val="4A5568"/>
              </a:solidFill>
              <a:latin typeface="Avenir" pitchFamily="34" charset="0"/>
              <a:ea typeface="Avenir" pitchFamily="34" charset="-122"/>
              <a:cs typeface="Avenir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</a:t>
            </a:r>
            <a:r>
              <a:rPr lang="en-US" sz="1600" b="1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gives you a reason to move anyway.</a:t>
            </a:r>
            <a:endParaRPr lang="en-US" sz="1050" b="1" dirty="0"/>
          </a:p>
        </p:txBody>
      </p:sp>
      <p:sp>
        <p:nvSpPr>
          <p:cNvPr id="24" name="Text 22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365760"/>
            <a:ext cx="45720" cy="438912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Two things self-discipline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NOT: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Punishment or deprivation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Willpower as a fixed resource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Someone else's formula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same every 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it actually is: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"The most generous thing you can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for your future self."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320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inspires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self-discipline: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keyword connected to your why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Legacy — who you're becoming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trusted circle that sees you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Small wins that compound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Measuring what actually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WINS.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winning actually means.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27432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3108960"/>
          </a:xfrm>
          <a:prstGeom prst="rect">
            <a:avLst/>
          </a:prstGeom>
          <a:solidFill>
            <a:srgbClr val="1B2A4A"/>
          </a:solidFill>
          <a:ln w="6350">
            <a:solidFill>
              <a:srgbClr val="C9A84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6517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it's NOT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2286000" cy="18288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Winning doesn't mean the adversity disappears.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doesn't mean you hit the number, cross the finish line, or achieve the goal.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doesn't mean the hard thing stops being hard.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51760" cy="3108960"/>
          </a:xfrm>
          <a:prstGeom prst="rect">
            <a:avLst/>
          </a:prstGeom>
          <a:solidFill>
            <a:srgbClr val="2E4272">
              <a:alpha val="70000"/>
            </a:srgbClr>
          </a:solidFill>
          <a:ln w="6350">
            <a:solidFill>
              <a:srgbClr val="C9A84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6517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011680"/>
            <a:ext cx="2286000" cy="18288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21214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Winning means you didn't stop.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came back the next morning.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refused to let the adversity define the outcome.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2651760" cy="3108960"/>
          </a:xfrm>
          <a:prstGeom prst="rect">
            <a:avLst/>
          </a:prstGeom>
          <a:solidFill>
            <a:srgbClr val="1B2A4A"/>
          </a:solidFill>
          <a:ln w="6350">
            <a:solidFill>
              <a:srgbClr val="C9A84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463040"/>
            <a:ext cx="26517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it happens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2011680"/>
            <a:ext cx="2286000" cy="18288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21214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morning you almost didn't get up — and then did.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hard week where you held the thread of the habit.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Small wins. Unglamorous. Nobody else sees them. They compound.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9A84C">
                    <a:alpha val="8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"It doesn't happen once in some dramatic moment of triumph.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9A84C">
                    <a:alpha val="8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happens again and again in the small, unglamorous moments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9A84C">
                    <a:alpha val="8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 nobody else sees."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INVITATION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yours.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046720" cy="658368"/>
          </a:xfrm>
          <a:prstGeom prst="rect">
            <a:avLst/>
          </a:prstGeom>
          <a:solidFill>
            <a:srgbClr val="2E4272">
              <a:alpha val="40000"/>
            </a:srgbClr>
          </a:solidFill>
          <a:ln w="12700">
            <a:solidFill>
              <a:srgbClr val="D4DEE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92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are your pictures?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665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future moments worth showing up for — your keyword lives here.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046720" cy="658368"/>
          </a:xfrm>
          <a:prstGeom prst="rect">
            <a:avLst/>
          </a:prstGeom>
          <a:solidFill>
            <a:srgbClr val="2E4272">
              <a:alpha val="40000"/>
            </a:srgbClr>
          </a:solidFill>
          <a:ln w="12700">
            <a:solidFill>
              <a:srgbClr val="D4DEE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 is in your circle?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Even loosely. One person with the right expertise changes everything.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36976"/>
            <a:ext cx="8046720" cy="658368"/>
          </a:xfrm>
          <a:prstGeom prst="rect">
            <a:avLst/>
          </a:prstGeom>
          <a:solidFill>
            <a:srgbClr val="2E4272">
              <a:alpha val="40000"/>
            </a:srgbClr>
          </a:solidFill>
          <a:ln w="12700">
            <a:solidFill>
              <a:srgbClr val="D4DEE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adversity are you facing?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hope is forged in real difficulty. Don't look away from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86784"/>
            <a:ext cx="8046720" cy="658368"/>
          </a:xfrm>
          <a:prstGeom prst="rect">
            <a:avLst/>
          </a:prstGeom>
          <a:solidFill>
            <a:srgbClr val="2E4272">
              <a:alpha val="40000"/>
            </a:srgbClr>
          </a:solidFill>
          <a:ln w="12700">
            <a:solidFill>
              <a:srgbClr val="D4DEE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does 'winning' look like tomorrow?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eventually — just tomorrow morning. That's where it starts.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FFFFFF">
                    <a:alpha val="50000"/>
                  </a:srgbClr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772400" cy="2937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 is not a feeling.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practice worth building.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800" b="1" dirty="0">
              <a:solidFill>
                <a:srgbClr val="FFFFFF"/>
              </a:solidFill>
              <a:latin typeface="Avenir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venir" pitchFamily="34" charset="0"/>
              </a:rPr>
              <a:t>Thank you.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EE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 </a:t>
            </a:r>
            <a:r>
              <a:rPr lang="en-US" sz="1300" dirty="0" err="1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hopeisnotafeeling.com</a:t>
            </a:r>
            <a:r>
              <a:rPr lang="en-US" sz="1300" dirty="0">
                <a:solidFill>
                  <a:srgbClr val="C9A84C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 |  LinkedIn: Brian Hackerson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136185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1435</Words>
  <Application>Microsoft Macintosh PowerPoint</Application>
  <PresentationFormat>On-screen Show (16:9)</PresentationFormat>
  <Paragraphs>255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Avenir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Science of Staying Hopeful</dc:title>
  <dc:subject>PptxGenJS Presentation</dc:subject>
  <dc:creator>Brian Hackerson</dc:creator>
  <cp:lastModifiedBy>Brian Hackerson</cp:lastModifiedBy>
  <cp:revision>6</cp:revision>
  <dcterms:created xsi:type="dcterms:W3CDTF">2026-03-11T20:23:19Z</dcterms:created>
  <dcterms:modified xsi:type="dcterms:W3CDTF">2026-03-15T21:38:23Z</dcterms:modified>
</cp:coreProperties>
</file>